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12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26948"/>
            <a:ext cx="4572000" cy="4114800"/>
          </a:xfrm>
          <a:prstGeom prst="roundRect">
            <a:avLst>
              <a:gd name="adj" fmla="val 44444"/>
            </a:avLst>
          </a:prstGeom>
          <a:solidFill>
            <a:srgbClr val="3A7BD5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86400" y="457200"/>
            <a:ext cx="4572000" cy="4114800"/>
          </a:xfrm>
          <a:prstGeom prst="roundRect">
            <a:avLst>
              <a:gd name="adj" fmla="val 44444"/>
            </a:avLst>
          </a:prstGeom>
          <a:solidFill>
            <a:srgbClr val="2EC4B6">
              <a:alpha val="9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3657600" cy="2743200"/>
          </a:xfrm>
          <a:prstGeom prst="ellipse">
            <a:avLst/>
          </a:prstGeom>
          <a:solidFill>
            <a:srgbClr val="E8636F">
              <a:alpha val="7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0" y="-914400"/>
            <a:ext cx="3200400" cy="3200400"/>
          </a:xfrm>
          <a:prstGeom prst="ellipse">
            <a:avLst/>
          </a:prstGeom>
          <a:solidFill>
            <a:srgbClr val="7C5CFC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548640"/>
            <a:ext cx="5120640" cy="3291840"/>
          </a:xfrm>
          <a:prstGeom prst="roundRect">
            <a:avLst>
              <a:gd name="adj" fmla="val 555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548640"/>
            <a:ext cx="5120640" cy="7315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777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WeaveNYC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Mutual Aid Platform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194560"/>
            <a:ext cx="1828800" cy="0"/>
          </a:xfrm>
          <a:prstGeom prst="line">
            <a:avLst/>
          </a:prstGeom>
          <a:noFill/>
          <a:ln w="25400">
            <a:solidFill>
              <a:srgbClr val="3A7BD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NYC's underserved communities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resources and neighbors they can trust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/>
              <a:t>Kairan Shen</a:t>
            </a:r>
            <a:r>
              <a:rPr lang="zh-CN" altLang="en-US" sz="1000" i="1" dirty="0"/>
              <a:t>  </a:t>
            </a:r>
            <a:r>
              <a:rPr lang="en-US" altLang="zh-CN" sz="1000" i="1" dirty="0"/>
              <a:t>ks8385@nyu.edu</a:t>
            </a:r>
            <a:endParaRPr lang="en-US" sz="1000" i="1" dirty="0"/>
          </a:p>
          <a:p>
            <a:r>
              <a:rPr lang="en-US" sz="1000" i="1" dirty="0"/>
              <a:t>Biao Chen     bc4159@nyu.edu</a:t>
            </a:r>
          </a:p>
        </p:txBody>
      </p:sp>
      <p:sp>
        <p:nvSpPr>
          <p:cNvPr id="13" name="Shape 11"/>
          <p:cNvSpPr/>
          <p:nvPr/>
        </p:nvSpPr>
        <p:spPr>
          <a:xfrm>
            <a:off x="5897880" y="548640"/>
            <a:ext cx="2880360" cy="3291840"/>
          </a:xfrm>
          <a:prstGeom prst="roundRect">
            <a:avLst>
              <a:gd name="adj" fmla="val 5714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832104"/>
            <a:ext cx="146304" cy="146304"/>
          </a:xfrm>
          <a:prstGeom prst="ellipse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777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051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device by default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56362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via GossipSub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community sync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2295144"/>
            <a:ext cx="146304" cy="146304"/>
          </a:xfrm>
          <a:prstGeom prst="ellipse">
            <a:avLst/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514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identity trust model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026664"/>
            <a:ext cx="146304" cy="146304"/>
          </a:xfrm>
          <a:prstGeom prst="ellipse">
            <a:avLst/>
          </a:prstGeom>
          <a:solidFill>
            <a:srgbClr val="E863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(×3)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GCP + Azure PaaS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827532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14400" y="41879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6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74520" y="41879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insecure in NYC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41879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17720" y="41879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English proficiency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41879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300K+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60920" y="41879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at risk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371600"/>
            <a:ext cx="3657600" cy="3657600"/>
          </a:xfrm>
          <a:prstGeom prst="ellipse">
            <a:avLst/>
          </a:prstGeom>
          <a:solidFill>
            <a:srgbClr val="B8D0F0">
              <a:alpha val="9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5B8E8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Cloud Migration — MediaWiki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Application → Docker → Cloud VM — deployment changes, not code changes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805899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828759"/>
            <a:ext cx="168249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75488" y="805899"/>
            <a:ext cx="1828800" cy="50292"/>
          </a:xfrm>
          <a:prstGeom prst="rect">
            <a:avLst/>
          </a:prstGeom>
          <a:solidFill>
            <a:srgbClr val="E8636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66928" y="897339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1171659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LAMP Install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" y="1464267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MariaDB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PHP on Ubuntu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(bare-metal server)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22576" y="1423119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96896" y="805899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670048" y="828759"/>
            <a:ext cx="168249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596896" y="805899"/>
            <a:ext cx="1828800" cy="50292"/>
          </a:xfrm>
          <a:prstGeom prst="rect">
            <a:avLst/>
          </a:prstGeom>
          <a:solidFill>
            <a:srgbClr val="F08C00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688336" y="897339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06624" y="1171659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&amp; 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06624" y="1464267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identically — same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same 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43984" y="1423119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18304" y="805899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791456" y="828759"/>
            <a:ext cx="168249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718304" y="805899"/>
            <a:ext cx="1828800" cy="50292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09744" y="897339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28032" y="1171659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1464267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MediaWiki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MariaDB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65392" y="1423119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39712" y="805899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912864" y="828759"/>
            <a:ext cx="168249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839712" y="805899"/>
            <a:ext cx="1828800" cy="50292"/>
          </a:xfrm>
          <a:prstGeom prst="rect">
            <a:avLst/>
          </a:prstGeom>
          <a:solidFill>
            <a:srgbClr val="3A7BD5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931152" y="897339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49440" y="1171659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VM Deploy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1464267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cloud infrastructure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/ GCP / Azure)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406099"/>
            <a:ext cx="393192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0352" y="2428959"/>
            <a:ext cx="378561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57200" y="2406099"/>
            <a:ext cx="3931920" cy="50292"/>
          </a:xfrm>
          <a:prstGeom prst="rect">
            <a:avLst/>
          </a:prstGeom>
          <a:solidFill>
            <a:srgbClr val="3CB371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94360" y="2497539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MEDIAWIKI?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271699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Migration Story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2991315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Traditional LAMP install path (Apache, MariaDB, PHP)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" y="3192483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 Official Image with docker-compose.yml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" y="3393651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Identical app logic across all three environments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" y="3594819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 admin UI makes verification easy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" y="3795987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Well-documented — no ambiguity in setup process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" y="4097739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paths exist natively — perfect for cloud migration demo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2406099"/>
            <a:ext cx="393192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828032" y="2428959"/>
            <a:ext cx="378561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754880" y="2406099"/>
            <a:ext cx="3931920" cy="50292"/>
          </a:xfrm>
          <a:prstGeom prst="rect">
            <a:avLst/>
          </a:prstGeom>
          <a:solidFill>
            <a:srgbClr val="7C5CFC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892040" y="2497539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MIGRATION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271699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Model, Not Code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92040" y="2991315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92040" y="3155907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deployment only — same app, new infra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3375363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Cloud-Enabled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92040" y="3539955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code for cloud features (e.g. auto-scale)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92040" y="3759411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92040" y="3924003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cloud from scratch (microservices, K8s)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92040" y="4097739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approach: cloud-based — application logic stays identical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280160" y="4527507"/>
            <a:ext cx="809244" cy="201168"/>
          </a:xfrm>
          <a:prstGeom prst="roundRect">
            <a:avLst>
              <a:gd name="adj" fmla="val 50000"/>
            </a:avLst>
          </a:prstGeom>
          <a:solidFill>
            <a:srgbClr val="3CB3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80160" y="4527507"/>
            <a:ext cx="8092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MediaWiki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226564" y="4527507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E863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2226564" y="4527507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Stack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32404" y="4527507"/>
            <a:ext cx="1106424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3232404" y="4527507"/>
            <a:ext cx="1106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475988" y="4527507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4475988" y="4527507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62956" y="4527507"/>
            <a:ext cx="928116" cy="201168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5362956" y="4527507"/>
            <a:ext cx="9281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5012139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F0C8A0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200400"/>
          </a:xfrm>
          <a:prstGeom prst="ellipse">
            <a:avLst/>
          </a:prstGeom>
          <a:solidFill>
            <a:srgbClr val="E8B0B0">
              <a:alpha val="9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Fragmented, Opaque, Siloed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468880" y="868680"/>
            <a:ext cx="4206240" cy="3483864"/>
          </a:xfrm>
          <a:prstGeom prst="roundRect">
            <a:avLst>
              <a:gd name="adj" fmla="val 3675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E0E4EB"/>
            </a:solidFill>
            <a:prstDash val="solid"/>
          </a:ln>
          <a:effectLst>
            <a:outerShdw blurRad="1524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sessions/focused-clever-feynman/slides_diagrams/rendered/01_as_i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960120"/>
            <a:ext cx="4023360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972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338328" y="1097280"/>
            <a:ext cx="1929384" cy="36576"/>
          </a:xfrm>
          <a:prstGeom prst="rect">
            <a:avLst/>
          </a:prstGeom>
          <a:solidFill>
            <a:srgbClr val="E863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338328" y="120700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Resources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" y="1481328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info scattered across agencies, PDFs, and phone lines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77440" y="1577340"/>
            <a:ext cx="91440" cy="0"/>
          </a:xfrm>
          <a:prstGeom prst="line">
            <a:avLst/>
          </a:prstGeom>
          <a:noFill/>
          <a:ln w="9525">
            <a:solidFill>
              <a:srgbClr val="E863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228600" y="310896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38328" y="3108960"/>
            <a:ext cx="1929384" cy="36576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38328" y="321868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Digital Barriers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" y="3493008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languages in NYC, low digital literacy, poor connectivity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77440" y="3589020"/>
            <a:ext cx="91440" cy="0"/>
          </a:xfrm>
          <a:prstGeom prst="line">
            <a:avLst/>
          </a:prstGeom>
          <a:noFill/>
          <a:ln w="9525">
            <a:solidFill>
              <a:srgbClr val="3A7BD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6766560" y="10972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6876288" y="1097280"/>
            <a:ext cx="1929384" cy="36576"/>
          </a:xfrm>
          <a:prstGeom prst="rect">
            <a:avLst/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876288" y="120700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Deficit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6288" y="1481328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populations fear data exposure to authorities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75120" y="1577340"/>
            <a:ext cx="91440" cy="0"/>
          </a:xfrm>
          <a:prstGeom prst="line">
            <a:avLst/>
          </a:prstGeom>
          <a:noFill/>
          <a:ln w="9525">
            <a:solidFill>
              <a:srgbClr val="7C5CF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6766560" y="310896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6876288" y="3108960"/>
            <a:ext cx="1929384" cy="36576"/>
          </a:xfrm>
          <a:prstGeom prst="rect">
            <a:avLst/>
          </a:prstGeom>
          <a:solidFill>
            <a:srgbClr val="F08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876288" y="321868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Mutual Aid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76288" y="3493008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WhatsApp/WeChat groups: limited reach, unsearchable, no governance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675120" y="3589020"/>
            <a:ext cx="91440" cy="0"/>
          </a:xfrm>
          <a:prstGeom prst="line">
            <a:avLst/>
          </a:prstGeom>
          <a:noFill/>
          <a:ln w="9525">
            <a:solidFill>
              <a:srgbClr val="F08C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2468880" y="439826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As-Is Flow: Manual, fragmented, no single system of record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B8D0F0">
              <a:alpha val="9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5B8E8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Five Value Pillars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80060" y="640080"/>
            <a:ext cx="260604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17220" y="640080"/>
            <a:ext cx="2331720" cy="36576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17220" y="777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A7BD5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722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 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" y="1737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resource directory available Day 1 — no community bootstrapping needed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8980" y="640080"/>
            <a:ext cx="260604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406140" y="640080"/>
            <a:ext cx="2331720" cy="36576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06140" y="777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EC4B6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0614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6140" y="1737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device; user explicitly opts in before any sharing; ZIP-only precision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7900" y="640080"/>
            <a:ext cx="260604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195060" y="640080"/>
            <a:ext cx="2331720" cy="36576"/>
          </a:xfrm>
          <a:prstGeom prst="rect">
            <a:avLst/>
          </a:prstGeom>
          <a:solidFill>
            <a:srgbClr val="F08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95060" y="777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8C00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9506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5060" y="17373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Top-3 action plans: neighbor matches + official resource fallback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74520" y="2651760"/>
            <a:ext cx="260604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011680" y="2651760"/>
            <a:ext cx="2331720" cy="36576"/>
          </a:xfrm>
          <a:prstGeom prst="rect">
            <a:avLst/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01168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7C5CFC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01168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Governance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nodes define rules, moderate content, broadcast decisions via P2P network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260604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800600" y="2651760"/>
            <a:ext cx="2331720" cy="36576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80060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CB371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+ Voice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UI in EN/ES/ZH; 3-tier voice degradation; privacy-first audio processing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5029200" cy="5029200"/>
          </a:xfrm>
          <a:prstGeom prst="ellipse">
            <a:avLst/>
          </a:prstGeom>
          <a:solidFill>
            <a:srgbClr val="C7D2FE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5029200" cy="5029200"/>
          </a:xfrm>
          <a:prstGeom prst="ellipse">
            <a:avLst/>
          </a:prstGeom>
          <a:solidFill>
            <a:srgbClr val="DDD6FE">
              <a:alpha val="3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286000" y="-1371600"/>
            <a:ext cx="5029200" cy="5029200"/>
          </a:xfrm>
          <a:prstGeom prst="ellipse">
            <a:avLst/>
          </a:prstGeom>
          <a:solidFill>
            <a:srgbClr val="BAE6FD">
              <a:alpha val="3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0" y="3200400"/>
            <a:ext cx="3657600" cy="3657600"/>
          </a:xfrm>
          <a:prstGeom prst="ellipse">
            <a:avLst/>
          </a:prstGeom>
          <a:solidFill>
            <a:srgbClr val="FBCFE8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3200400" cy="3200400"/>
          </a:xfrm>
          <a:prstGeom prst="ellipse">
            <a:avLst/>
          </a:prstGeom>
          <a:solidFill>
            <a:srgbClr val="FDE68A">
              <a:alpha val="2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personas across the WeaveNYC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" y="795528"/>
            <a:ext cx="2697480" cy="3611880"/>
          </a:xfrm>
          <a:prstGeom prst="roundRect">
            <a:avLst>
              <a:gd name="adj" fmla="val 6780"/>
            </a:avLst>
          </a:prstGeom>
          <a:solidFill>
            <a:srgbClr val="FFFFFF">
              <a:alpha val="45000"/>
            </a:srgbClr>
          </a:solidFill>
          <a:ln/>
          <a:effectLst>
            <a:outerShdw blurRad="228600" dist="635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25780" y="841248"/>
            <a:ext cx="2606040" cy="3520440"/>
          </a:xfrm>
          <a:prstGeom prst="roundRect">
            <a:avLst>
              <a:gd name="adj" fmla="val 5263"/>
            </a:avLst>
          </a:prstGeom>
          <a:solidFill>
            <a:srgbClr val="FFFFFF">
              <a:alpha val="5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98932" y="1399032"/>
            <a:ext cx="2459736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80644" y="1380744"/>
            <a:ext cx="2496312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17220" y="3630168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25780" y="841248"/>
            <a:ext cx="2606040" cy="502920"/>
          </a:xfrm>
          <a:prstGeom prst="roundRect">
            <a:avLst>
              <a:gd name="adj" fmla="val 27273"/>
            </a:avLst>
          </a:prstGeom>
          <a:solidFill>
            <a:srgbClr val="3A7BD5">
              <a:alpha val="8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25780" y="1207008"/>
            <a:ext cx="2606040" cy="137160"/>
          </a:xfrm>
          <a:prstGeom prst="rect">
            <a:avLst/>
          </a:prstGeom>
          <a:solidFill>
            <a:srgbClr val="3A7BD5">
              <a:alpha val="8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25780" y="914400"/>
            <a:ext cx="2606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Seeker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90372" y="1481328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90372" y="148132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0372" y="170992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Low-income, immigrant, elderly, single parent, temporarily unemployed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" y="2240280"/>
            <a:ext cx="22768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90372" y="235000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0372" y="23500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0372" y="25786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food, childcare, translation, transportation help ASAP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" y="3108960"/>
            <a:ext cx="22768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90372" y="3218688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90372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0372" y="344728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plan in &lt;1 min; anonymous by default; minimal data exposure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23260" y="795528"/>
            <a:ext cx="2697480" cy="3611880"/>
          </a:xfrm>
          <a:prstGeom prst="roundRect">
            <a:avLst>
              <a:gd name="adj" fmla="val 6780"/>
            </a:avLst>
          </a:prstGeom>
          <a:solidFill>
            <a:srgbClr val="FFFFFF">
              <a:alpha val="45000"/>
            </a:srgbClr>
          </a:solidFill>
          <a:ln/>
          <a:effectLst>
            <a:outerShdw blurRad="228600" dist="635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268980" y="841248"/>
            <a:ext cx="2606040" cy="3520440"/>
          </a:xfrm>
          <a:prstGeom prst="roundRect">
            <a:avLst>
              <a:gd name="adj" fmla="val 5263"/>
            </a:avLst>
          </a:prstGeom>
          <a:solidFill>
            <a:srgbClr val="FFFFFF">
              <a:alpha val="5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342132" y="1399032"/>
            <a:ext cx="2459736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323844" y="1380744"/>
            <a:ext cx="2496312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360420" y="3630168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268980" y="841248"/>
            <a:ext cx="2606040" cy="502920"/>
          </a:xfrm>
          <a:prstGeom prst="roundRect">
            <a:avLst>
              <a:gd name="adj" fmla="val 27273"/>
            </a:avLst>
          </a:prstGeom>
          <a:solidFill>
            <a:srgbClr val="3CB371">
              <a:alpha val="8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268980" y="1207008"/>
            <a:ext cx="2606040" cy="137160"/>
          </a:xfrm>
          <a:prstGeom prst="rect">
            <a:avLst/>
          </a:prstGeom>
          <a:solidFill>
            <a:srgbClr val="3CB371">
              <a:alpha val="8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268980" y="914400"/>
            <a:ext cx="2606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Helper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3433572" y="1481328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3CB3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3433572" y="148132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33572" y="170992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Volunteer, neighbor, student, church / community group member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33572" y="2240280"/>
            <a:ext cx="22768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433572" y="235000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3CB3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433572" y="23500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33572" y="25786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offers, screen suitable matches, complete delivery safely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33572" y="3108960"/>
            <a:ext cx="22768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433572" y="3218688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3CB3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3433572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33572" y="344728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matching; risk alerts; witness mechanism builds trust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66460" y="795528"/>
            <a:ext cx="2697480" cy="3611880"/>
          </a:xfrm>
          <a:prstGeom prst="roundRect">
            <a:avLst>
              <a:gd name="adj" fmla="val 6780"/>
            </a:avLst>
          </a:prstGeom>
          <a:solidFill>
            <a:srgbClr val="FFFFFF">
              <a:alpha val="45000"/>
            </a:srgbClr>
          </a:solidFill>
          <a:ln/>
          <a:effectLst>
            <a:outerShdw blurRad="228600" dist="635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012180" y="841248"/>
            <a:ext cx="2606040" cy="3520440"/>
          </a:xfrm>
          <a:prstGeom prst="roundRect">
            <a:avLst>
              <a:gd name="adj" fmla="val 5263"/>
            </a:avLst>
          </a:prstGeom>
          <a:solidFill>
            <a:srgbClr val="FFFFFF">
              <a:alpha val="5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6085332" y="1399032"/>
            <a:ext cx="2459736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067044" y="1380744"/>
            <a:ext cx="2496312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103620" y="3630168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012180" y="841248"/>
            <a:ext cx="2606040" cy="502920"/>
          </a:xfrm>
          <a:prstGeom prst="roundRect">
            <a:avLst>
              <a:gd name="adj" fmla="val 27273"/>
            </a:avLst>
          </a:prstGeom>
          <a:solidFill>
            <a:srgbClr val="7C5CFC">
              <a:alpha val="8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012180" y="1207008"/>
            <a:ext cx="2606040" cy="137160"/>
          </a:xfrm>
          <a:prstGeom prst="rect">
            <a:avLst/>
          </a:prstGeom>
          <a:solidFill>
            <a:srgbClr val="7C5CFC">
              <a:alpha val="8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012180" y="914400"/>
            <a:ext cx="2606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Admin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6176772" y="1481328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176772" y="148132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76772" y="170992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staff, church coordinator, pantry operator, mutual aid organizer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76772" y="2240280"/>
            <a:ext cx="22768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6176772" y="235000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176772" y="23500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176772" y="257860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rules, moderate content, post announcements, handle reports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176772" y="3108960"/>
            <a:ext cx="22768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6176772" y="3218688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176772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176772" y="344728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review queue + audit log; community governance toolkit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94944" y="4434840"/>
            <a:ext cx="775411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50000"/>
            </a:srgbClr>
          </a:solidFill>
          <a:ln/>
          <a:effectLst>
            <a:outerShdw blurRad="1524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731520" y="4462272"/>
            <a:ext cx="7680960" cy="329184"/>
          </a:xfrm>
          <a:prstGeom prst="roundRect">
            <a:avLst>
              <a:gd name="adj" fmla="val 27778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1097280" y="4489704"/>
            <a:ext cx="6949440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731520" y="44622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Seeker requests help   →   Helper fulfills   →   Anchor Admin governs</a:t>
            </a: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C7D2FE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DDD6FE">
              <a:alpha val="3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3657600"/>
          </a:xfrm>
          <a:prstGeom prst="ellipse">
            <a:avLst/>
          </a:prstGeom>
          <a:solidFill>
            <a:srgbClr val="BAE6FD">
              <a:alpha val="3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BCFE8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2743200"/>
          </a:xfrm>
          <a:prstGeom prst="ellipse">
            <a:avLst/>
          </a:prstGeom>
          <a:solidFill>
            <a:srgbClr val="FDE68A">
              <a:alpha val="2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Use Cases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5120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workflows from browse to governance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2651760" cy="3931920"/>
          </a:xfrm>
          <a:prstGeom prst="roundRect">
            <a:avLst>
              <a:gd name="adj" fmla="val 6897"/>
            </a:avLst>
          </a:prstGeom>
          <a:solidFill>
            <a:srgbClr val="FFFFFF">
              <a:alpha val="45000"/>
            </a:srgbClr>
          </a:solidFill>
          <a:ln/>
          <a:effectLst>
            <a:outerShdw blurRad="2032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74904" y="914400"/>
            <a:ext cx="2450592" cy="228600"/>
          </a:xfrm>
          <a:prstGeom prst="roundRect">
            <a:avLst>
              <a:gd name="adj" fmla="val 24000"/>
            </a:avLst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/sessions/focused-clever-feynman/slides_diagrams/rendered/14_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2286000" cy="35661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118104" y="813816"/>
            <a:ext cx="5742432" cy="740664"/>
          </a:xfrm>
          <a:prstGeom prst="roundRect">
            <a:avLst>
              <a:gd name="adj" fmla="val 19753"/>
            </a:avLst>
          </a:prstGeom>
          <a:solidFill>
            <a:srgbClr val="FFFFFF">
              <a:alpha val="45000"/>
            </a:srgbClr>
          </a:solidFill>
          <a:ln/>
          <a:effectLst>
            <a:outerShdw blurRad="1524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154680" y="841248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5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3209544" y="877824"/>
            <a:ext cx="555955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154680" y="841248"/>
            <a:ext cx="64008" cy="685800"/>
          </a:xfrm>
          <a:prstGeom prst="roundRect">
            <a:avLst>
              <a:gd name="adj" fmla="val 57143"/>
            </a:avLst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3291840" y="886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93192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Resources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931920" y="1188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search, 'open now' filter, one-tap call/navigate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18104" y="1609344"/>
            <a:ext cx="5742432" cy="740664"/>
          </a:xfrm>
          <a:prstGeom prst="roundRect">
            <a:avLst>
              <a:gd name="adj" fmla="val 19753"/>
            </a:avLst>
          </a:prstGeom>
          <a:solidFill>
            <a:srgbClr val="FFFFFF">
              <a:alpha val="45000"/>
            </a:srgbClr>
          </a:solidFill>
          <a:ln/>
          <a:effectLst>
            <a:outerShdw blurRad="1524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3154680" y="1636776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5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3209544" y="1673352"/>
            <a:ext cx="555955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3154680" y="1636776"/>
            <a:ext cx="64008" cy="685800"/>
          </a:xfrm>
          <a:prstGeom prst="roundRect">
            <a:avLst>
              <a:gd name="adj" fmla="val 57143"/>
            </a:avLst>
          </a:prstGeom>
          <a:solidFill>
            <a:srgbClr val="3CB3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3291840" y="168249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CB3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931920" y="1709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Request / Offer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931920" y="19842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text, category, privacy level, auto-expire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18104" y="2404872"/>
            <a:ext cx="5742432" cy="740664"/>
          </a:xfrm>
          <a:prstGeom prst="roundRect">
            <a:avLst>
              <a:gd name="adj" fmla="val 19753"/>
            </a:avLst>
          </a:prstGeom>
          <a:solidFill>
            <a:srgbClr val="FFFFFF">
              <a:alpha val="45000"/>
            </a:srgbClr>
          </a:solidFill>
          <a:ln/>
          <a:effectLst>
            <a:outerShdw blurRad="1524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3154680" y="2432304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5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3209544" y="2468880"/>
            <a:ext cx="555955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3154680" y="2432304"/>
            <a:ext cx="64008" cy="685800"/>
          </a:xfrm>
          <a:prstGeom prst="roundRect">
            <a:avLst>
              <a:gd name="adj" fmla="val 57143"/>
            </a:avLst>
          </a:prstGeom>
          <a:solidFill>
            <a:srgbClr val="F08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3291840" y="247802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8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3931920" y="2505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Matching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931920" y="27797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action plans: distance, language, trust signals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118104" y="3200400"/>
            <a:ext cx="5742432" cy="740664"/>
          </a:xfrm>
          <a:prstGeom prst="roundRect">
            <a:avLst>
              <a:gd name="adj" fmla="val 19753"/>
            </a:avLst>
          </a:prstGeom>
          <a:solidFill>
            <a:srgbClr val="FFFFFF">
              <a:alpha val="45000"/>
            </a:srgbClr>
          </a:solidFill>
          <a:ln/>
          <a:effectLst>
            <a:outerShdw blurRad="1524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3154680" y="3227832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5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3209544" y="3264408"/>
            <a:ext cx="555955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3154680" y="3227832"/>
            <a:ext cx="64008" cy="685800"/>
          </a:xfrm>
          <a:prstGeom prst="roundRect">
            <a:avLst>
              <a:gd name="adj" fmla="val 57143"/>
            </a:avLst>
          </a:prstGeom>
          <a:solidFill>
            <a:srgbClr val="E863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3291840" y="327355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3931920" y="3300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Communication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3931920" y="35753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opt-in chat, PII detection, block/report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118104" y="3995928"/>
            <a:ext cx="5742432" cy="740664"/>
          </a:xfrm>
          <a:prstGeom prst="roundRect">
            <a:avLst>
              <a:gd name="adj" fmla="val 19753"/>
            </a:avLst>
          </a:prstGeom>
          <a:solidFill>
            <a:srgbClr val="FFFFFF">
              <a:alpha val="45000"/>
            </a:srgbClr>
          </a:solidFill>
          <a:ln/>
          <a:effectLst>
            <a:outerShdw blurRad="152400" dist="381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3154680" y="4023360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5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0"/>
          <p:cNvSpPr/>
          <p:nvPr/>
        </p:nvSpPr>
        <p:spPr>
          <a:xfrm>
            <a:off x="3209544" y="4059936"/>
            <a:ext cx="555955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1"/>
          <p:cNvSpPr/>
          <p:nvPr/>
        </p:nvSpPr>
        <p:spPr>
          <a:xfrm>
            <a:off x="3154680" y="4023360"/>
            <a:ext cx="64008" cy="685800"/>
          </a:xfrm>
          <a:prstGeom prst="roundRect">
            <a:avLst>
              <a:gd name="adj" fmla="val 57143"/>
            </a:avLst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3291840" y="40690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5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393192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Governance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3931920" y="4370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queue, SLA priority, audit trail, P2P broadcast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C7D2FE">
              <a:alpha val="3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BAE6FD">
              <a:alpha val="3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DDD6FE">
              <a:alpha val="3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-457200" y="2743200"/>
            <a:ext cx="4114800" cy="4114800"/>
          </a:xfrm>
          <a:prstGeom prst="ellipse">
            <a:avLst/>
          </a:prstGeom>
          <a:solidFill>
            <a:srgbClr val="FDE68A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3200400" cy="3200400"/>
          </a:xfrm>
          <a:prstGeom prst="ellipse">
            <a:avLst/>
          </a:prstGeom>
          <a:solidFill>
            <a:srgbClr val="FBCFE8">
              <a:alpha val="2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separation from client to storage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08376" y="996696"/>
            <a:ext cx="3127248" cy="3072384"/>
          </a:xfrm>
          <a:prstGeom prst="roundRect">
            <a:avLst>
              <a:gd name="adj" fmla="val 5952"/>
            </a:avLst>
          </a:prstGeom>
          <a:solidFill>
            <a:srgbClr val="FFFFFF">
              <a:alpha val="50000"/>
            </a:srgbClr>
          </a:solidFill>
          <a:ln/>
          <a:effectLst>
            <a:outerShdw blurRad="2032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063240" y="1051560"/>
            <a:ext cx="3017520" cy="2962656"/>
          </a:xfrm>
          <a:prstGeom prst="roundRect">
            <a:avLst>
              <a:gd name="adj" fmla="val 4630"/>
            </a:avLst>
          </a:prstGeom>
          <a:solidFill>
            <a:srgbClr val="FFFFFF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118104" y="1088136"/>
            <a:ext cx="2907792" cy="182880"/>
          </a:xfrm>
          <a:prstGeom prst="roundRect">
            <a:avLst>
              <a:gd name="adj" fmla="val 25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/sessions/focused-clever-feynman/slides_diagrams/rendered/03_to_be_log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161288"/>
            <a:ext cx="2798064" cy="2743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0584" y="685800"/>
            <a:ext cx="2816352" cy="1746504"/>
          </a:xfrm>
          <a:prstGeom prst="roundRect">
            <a:avLst>
              <a:gd name="adj" fmla="val 9424"/>
            </a:avLst>
          </a:prstGeom>
          <a:solidFill>
            <a:srgbClr val="FFFFFF">
              <a:alpha val="45000"/>
            </a:srgbClr>
          </a:solidFill>
          <a:ln/>
          <a:effectLst>
            <a:outerShdw blurRad="1778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137160" y="713232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D6E4F7">
              <a:alpha val="55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192024" y="749808"/>
            <a:ext cx="263347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37160" y="713232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274320" y="850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Layer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74320" y="11247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Client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" y="135331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IndexedDB + i18n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Voice; offline-first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27064" y="685800"/>
            <a:ext cx="2816352" cy="1746504"/>
          </a:xfrm>
          <a:prstGeom prst="roundRect">
            <a:avLst>
              <a:gd name="adj" fmla="val 9424"/>
            </a:avLst>
          </a:prstGeom>
          <a:solidFill>
            <a:srgbClr val="FFFFFF">
              <a:alpha val="45000"/>
            </a:srgbClr>
          </a:solidFill>
          <a:ln/>
          <a:effectLst>
            <a:outerShdw blurRad="1778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6263640" y="713232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D0F0EC">
              <a:alpha val="55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6318504" y="749808"/>
            <a:ext cx="263347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6263640" y="713232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400800" y="850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Layer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11247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/ Anchor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0" y="135331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libp2p + Anchor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GossipSub + IPFS pin + mod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0584" y="3035808"/>
            <a:ext cx="2816352" cy="1746504"/>
          </a:xfrm>
          <a:prstGeom prst="roundRect">
            <a:avLst>
              <a:gd name="adj" fmla="val 9424"/>
            </a:avLst>
          </a:prstGeom>
          <a:solidFill>
            <a:srgbClr val="FFFFFF">
              <a:alpha val="45000"/>
            </a:srgbClr>
          </a:solidFill>
          <a:ln/>
          <a:effectLst>
            <a:outerShdw blurRad="1778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137160" y="306324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FBE6C8">
              <a:alpha val="55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192024" y="3099816"/>
            <a:ext cx="263347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137160" y="30632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F08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27432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Layer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74320" y="3474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Microservices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74320" y="3703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GW, Resource Dir, Posts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Engine, Chat, Notify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27064" y="3035808"/>
            <a:ext cx="2816352" cy="1746504"/>
          </a:xfrm>
          <a:prstGeom prst="roundRect">
            <a:avLst>
              <a:gd name="adj" fmla="val 9424"/>
            </a:avLst>
          </a:prstGeom>
          <a:solidFill>
            <a:srgbClr val="FFFFFF">
              <a:alpha val="45000"/>
            </a:srgbClr>
          </a:solidFill>
          <a:ln/>
          <a:effectLst>
            <a:outerShdw blurRad="177800" dist="508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6263640" y="3063240"/>
            <a:ext cx="2743200" cy="1691640"/>
          </a:xfrm>
          <a:prstGeom prst="roundRect">
            <a:avLst>
              <a:gd name="adj" fmla="val 7568"/>
            </a:avLst>
          </a:prstGeom>
          <a:solidFill>
            <a:srgbClr val="E4DCF9">
              <a:alpha val="55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6318504" y="3099816"/>
            <a:ext cx="2633472" cy="54864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6263640" y="30632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640080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400800" y="3474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00800" y="3703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PostgreSQL+PostGIS | Redis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IPFS/Helia | S3/GCS/Blob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C7D2FE">
              <a:alpha val="3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FDE68A">
              <a:alpha val="3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4572000" cy="4572000"/>
          </a:xfrm>
          <a:prstGeom prst="ellipse">
            <a:avLst/>
          </a:prstGeom>
          <a:solidFill>
            <a:srgbClr val="DDD6FE">
              <a:alpha val="3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P2P Architecture: True Peer-to-Peer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GossipSub direct node communication — no central broker, no Kafka, no PubSub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30352" y="827532"/>
            <a:ext cx="378561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7200" y="804672"/>
            <a:ext cx="3931920" cy="50292"/>
          </a:xfrm>
          <a:prstGeom prst="rect">
            <a:avLst/>
          </a:prstGeom>
          <a:solidFill>
            <a:srgbClr val="E8636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66928" y="896112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TRUE P2P — NOT KAFKA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12471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Stack (GossipSub)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130759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Edge ↔ Anchor direct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146304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Edge ↔ Edge via WebRTC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16184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Anchor relays, not gates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177393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 if Anchor offline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78024" y="112471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PubSub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78024" y="130759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All msgs via broker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78024" y="1463040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direct peer link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78024" y="1618488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Broker = single point of failure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177393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Broker down = network down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1975104"/>
            <a:ext cx="3712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node gossips directly to peers — no central message queue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804672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828032" y="827532"/>
            <a:ext cx="378561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3931920" cy="50292"/>
          </a:xfrm>
          <a:prstGeom prst="rect">
            <a:avLst/>
          </a:prstGeom>
          <a:solidFill>
            <a:srgbClr val="3A7BD5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64608" y="896112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GOSSIPSUB P2P STACK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1133856"/>
            <a:ext cx="3712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libp2p v1.1 + GossipSub v1.1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1289304"/>
            <a:ext cx="3712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(direct) + WebSocket (relay)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1444752"/>
            <a:ext cx="3712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 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Helia (content-addressed, 30-day pin)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64608" y="1600200"/>
            <a:ext cx="3712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keypair + event signing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1755648"/>
            <a:ext cx="3712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   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(offline-first, zero-knowledge)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1975104"/>
            <a:ext cx="3712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Production-grade: same stack as Ethereum &amp; Filecoin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" y="23317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4924" y="2354580"/>
            <a:ext cx="245973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61772" y="2331720"/>
            <a:ext cx="2606040" cy="50292"/>
          </a:xfrm>
          <a:prstGeom prst="rect">
            <a:avLst/>
          </a:prstGeom>
          <a:solidFill>
            <a:srgbClr val="3A7BD5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53212" y="242316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3212" y="2569464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Node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3212" y="2770632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Browser (libp2p-js)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3212" y="2971800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libp2p in WebWorker, max 10 connections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" y="3127248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posts offline, publish on opt-in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3212" y="3282696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WebRTC direct + WebSocket fallback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" y="3474720"/>
            <a:ext cx="2386584" cy="13716"/>
          </a:xfrm>
          <a:prstGeom prst="rect">
            <a:avLst/>
          </a:prstGeom>
          <a:solidFill>
            <a:srgbClr val="3A7BD5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53212" y="35295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 &amp; sign posts locally, then gossip to peers via GossipSub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86100" y="323697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268980" y="23317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3342132" y="2354580"/>
            <a:ext cx="245973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268980" y="2331720"/>
            <a:ext cx="2606040" cy="50292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3360420" y="242316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NODE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60420" y="2569464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Node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360420" y="2770632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Org (Node.js, libp2p v1.1)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60420" y="2971800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GossipSub relay + IPFS pin (not a broker)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60420" y="3127248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moderation + community rule engine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60420" y="3282696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Signature verification + audit log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378708" y="3474720"/>
            <a:ext cx="2386584" cy="13716"/>
          </a:xfrm>
          <a:prstGeom prst="rect">
            <a:avLst/>
          </a:prstGeom>
          <a:solidFill>
            <a:srgbClr val="2EC4B6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3360420" y="35295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events &amp; enforces rules; Anchor-wins for moderation decisions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93308" y="323697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076188" y="23317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149340" y="2354580"/>
            <a:ext cx="245973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076188" y="2331720"/>
            <a:ext cx="2606040" cy="50292"/>
          </a:xfrm>
          <a:prstGeom prst="rect">
            <a:avLst/>
          </a:prstGeom>
          <a:solidFill>
            <a:srgbClr val="F08C00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167628" y="242316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INTELLIGENCE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167628" y="2569464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Layer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167628" y="2770632"/>
            <a:ext cx="2423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/ Azure (Serverless)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167628" y="2971800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engine + risk detection + geo-search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67628" y="3127248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relay (Anchor offline fallback)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67628" y="3282696"/>
            <a:ext cx="242316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PII stored — metadata indexing only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85916" y="3474720"/>
            <a:ext cx="2386584" cy="13716"/>
          </a:xfrm>
          <a:prstGeom prst="rect">
            <a:avLst/>
          </a:prstGeom>
          <a:solidFill>
            <a:srgbClr val="F08C00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167628" y="35295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compute only; supplements P2P, never replaces it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906524" y="438912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E8636F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906524" y="43891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P2P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75204" y="4389120"/>
            <a:ext cx="1143000" cy="219456"/>
          </a:xfrm>
          <a:prstGeom prst="roundRect">
            <a:avLst>
              <a:gd name="adj" fmla="val 50000"/>
            </a:avLst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2775204" y="43891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GossipSub v1.1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009644" y="43891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3A7BD5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4009644" y="438912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libp2p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741164" y="4389120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7C5CFC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4741164" y="4389120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545836" y="438912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3CB371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5545836" y="438912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Helia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505956" y="438912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08C00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6505956" y="43891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DDD6FE">
              <a:alpha val="3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BAE6FD">
              <a:alpha val="3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5029200" cy="5029200"/>
          </a:xfrm>
          <a:prstGeom prst="ellipse">
            <a:avLst/>
          </a:prstGeom>
          <a:solidFill>
            <a:srgbClr val="C7D2FE">
              <a:alpha val="3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DE68A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P2P Engineering: Bootstrap &amp; Failover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 nodes join, how coordinators stay resilient, and how data stays consistent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" y="804672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34924" y="827532"/>
            <a:ext cx="245973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61772" y="804672"/>
            <a:ext cx="2606040" cy="50292"/>
          </a:xfrm>
          <a:prstGeom prst="rect">
            <a:avLst/>
          </a:prstGeom>
          <a:solidFill>
            <a:srgbClr val="3CB371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53212" y="89611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BOOTSTRAP: NEW NODE JOINS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3212" y="111556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Known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" y="1261872"/>
            <a:ext cx="2240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addresses + local cache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3212" y="146304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WebSocket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" y="1609344"/>
            <a:ext cx="2240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→ Anchor /bootstrap endpoint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3212" y="181051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Snapshot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" y="1956816"/>
            <a:ext cx="2240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Last-100 posts + peer list (Ed25519)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3212" y="2157984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Sync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" y="2304288"/>
            <a:ext cx="2240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3 GossipSub topics (~500ms)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3212" y="2596896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pattern as Bitcoin DNS seeds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68980" y="804672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342132" y="827532"/>
            <a:ext cx="245973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268980" y="804672"/>
            <a:ext cx="2606040" cy="50292"/>
          </a:xfrm>
          <a:prstGeom prst="rect">
            <a:avLst/>
          </a:prstGeom>
          <a:solidFill>
            <a:srgbClr val="7C5CFC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360420" y="89611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FAILOVER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01568" y="1115568"/>
            <a:ext cx="694944" cy="457200"/>
          </a:xfrm>
          <a:prstGeom prst="roundRect">
            <a:avLst>
              <a:gd name="adj" fmla="val 12000"/>
            </a:avLst>
          </a:prstGeom>
          <a:solidFill>
            <a:srgbClr val="7C5CFC">
              <a:alpha val="18000"/>
            </a:srgbClr>
          </a:solidFill>
          <a:ln w="10160">
            <a:solidFill>
              <a:srgbClr val="7C5CF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429000" y="117043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29000" y="135331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96512" y="1243584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24528" y="1115568"/>
            <a:ext cx="694944" cy="457200"/>
          </a:xfrm>
          <a:prstGeom prst="roundRect">
            <a:avLst>
              <a:gd name="adj" fmla="val 12000"/>
            </a:avLst>
          </a:prstGeom>
          <a:solidFill>
            <a:srgbClr val="5856D6">
              <a:alpha val="18000"/>
            </a:srgbClr>
          </a:solidFill>
          <a:ln w="10160">
            <a:solidFill>
              <a:srgbClr val="5856D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251960" y="117043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#1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51960" y="135331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Standby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19472" y="1243584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47488" y="1115568"/>
            <a:ext cx="694944" cy="457200"/>
          </a:xfrm>
          <a:prstGeom prst="roundRect">
            <a:avLst>
              <a:gd name="adj" fmla="val 12000"/>
            </a:avLst>
          </a:prstGeom>
          <a:solidFill>
            <a:srgbClr val="3A7BD5">
              <a:alpha val="18000"/>
            </a:srgbClr>
          </a:solidFill>
          <a:ln w="10160">
            <a:solidFill>
              <a:srgbClr val="3A7BD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074920" y="117043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#2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74920" y="135331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Standby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60420" y="1591056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30s                    sync 60s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60420" y="173736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auto-promotes if Primary unreachable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60420" y="2011680"/>
            <a:ext cx="2423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FIXED, NOT DYNAMIC ELECTION?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60420" y="217627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split-brain (no Raft/Paxos needed)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60420" y="2340864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Community trust: Anchor = known org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60420" y="2505456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Edge ↔ Edge still works without Anchor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76188" y="804672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149340" y="827532"/>
            <a:ext cx="245973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076188" y="804672"/>
            <a:ext cx="2606040" cy="50292"/>
          </a:xfrm>
          <a:prstGeom prst="rect">
            <a:avLst/>
          </a:prstGeom>
          <a:solidFill>
            <a:srgbClr val="5856D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167628" y="89611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8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vs DECENTRALIZED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67628" y="109728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(✓ Our system):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67628" y="12618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nodes do different tasks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create | Anchor: govern | Cloud: compute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67628" y="157276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(Partial):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67628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Anchor authority for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&amp; content moderation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85916" y="2066544"/>
            <a:ext cx="2386584" cy="13716"/>
          </a:xfrm>
          <a:prstGeom prst="rect">
            <a:avLst/>
          </a:prstGeom>
          <a:solidFill>
            <a:srgbClr val="5856D6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167628" y="212140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5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67628" y="2286000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"Governance-Layered Hybrid"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msg layer (decentralized)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Anchor governance (centralized trust)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Cloud compute (centralized service)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2944368"/>
            <a:ext cx="8229600" cy="1389888"/>
          </a:xfrm>
          <a:prstGeom prst="roundRect">
            <a:avLst>
              <a:gd name="adj" fmla="val 657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530352" y="2967228"/>
            <a:ext cx="808329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57200" y="2944368"/>
            <a:ext cx="8229600" cy="50292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66928" y="3035808"/>
            <a:ext cx="80101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EVENTUALLY-CONSISTENT MODEL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6928" y="3255264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3A7BD5">
              <a:alpha val="15000"/>
            </a:srgbClr>
          </a:solidFill>
          <a:ln w="10160">
            <a:solidFill>
              <a:srgbClr val="3A7BD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40080" y="331012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Dedup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" y="351129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UUIDv7 unique 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96896" y="3255264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3CB371">
              <a:alpha val="15000"/>
            </a:srgbClr>
          </a:solidFill>
          <a:ln w="10160">
            <a:solidFill>
              <a:srgbClr val="3CB3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2670048" y="331012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Chain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670048" y="351129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→ prev_cid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26864" y="3255264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8C00">
              <a:alpha val="15000"/>
            </a:srgbClr>
          </a:solidFill>
          <a:ln w="10160">
            <a:solidFill>
              <a:srgbClr val="F08C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4700016" y="331012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Rule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700016" y="351129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Posts: last-write-wins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Mod: Anchor-wins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656832" y="3255264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8636F">
              <a:alpha val="15000"/>
            </a:srgbClr>
          </a:solidFill>
          <a:ln w="10160">
            <a:solidFill>
              <a:srgbClr val="E8636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729984" y="3310128"/>
            <a:ext cx="1773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Tombstone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729984" y="351129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delete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all nodes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66928" y="3968496"/>
            <a:ext cx="8010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split-brain: Anchor decides conflicts  |  Works offline: versioning + local cache  |  Hybrid: cloud supplements, never replaces P2P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508760" y="4462272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3CB371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1508760" y="44622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Protocol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834640" y="446227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7C5CFC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2834640" y="44622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Failover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931920" y="4462272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2EC4B6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3931920" y="4462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Consistent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486400" y="4462272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08C00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5486400" y="446227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Anchor-Wins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537960" y="4462272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3A7BD5">
              <a:alpha val="7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6537960" y="4462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Verified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C7D2FE">
              <a:alpha val="3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DE68A">
              <a:alpha val="3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0" y="-1097280"/>
            <a:ext cx="5029200" cy="5029200"/>
          </a:xfrm>
          <a:prstGeom prst="ellipse">
            <a:avLst/>
          </a:prstGeom>
          <a:solidFill>
            <a:srgbClr val="BAE6FD">
              <a:alpha val="3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Multi-Cloud Deployment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PaaS services across AWS, GCP &amp; Azure — each chosen for a specific technical advantage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92960" y="658368"/>
            <a:ext cx="4958080" cy="2788920"/>
          </a:xfrm>
          <a:prstGeom prst="roundRect">
            <a:avLst>
              <a:gd name="adj" fmla="val 3279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166112" y="681228"/>
            <a:ext cx="481177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/sessions/focused-clever-feynman/slides_diagrams/rendered/04_physical_deployment_v2.png"/>
          <p:cNvPicPr>
            <a:picLocks noChangeAspect="1"/>
          </p:cNvPicPr>
          <p:nvPr/>
        </p:nvPicPr>
        <p:blipFill>
          <a:blip r:embed="rId3"/>
          <a:srcRect t="14141" r="19676" b="8155"/>
          <a:stretch>
            <a:fillRect/>
          </a:stretch>
        </p:blipFill>
        <p:spPr>
          <a:xfrm>
            <a:off x="2129536" y="695408"/>
            <a:ext cx="4870286" cy="26192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3584448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530352" y="3607308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57200" y="3584448"/>
            <a:ext cx="2651760" cy="50292"/>
          </a:xfrm>
          <a:prstGeom prst="rect">
            <a:avLst/>
          </a:prstGeom>
          <a:solidFill>
            <a:srgbClr val="3A7BD5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66928" y="3675888"/>
            <a:ext cx="2432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 </a:t>
            </a:r>
            <a:r>
              <a:rPr lang="en-US" sz="9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Backend · 4 PaaS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3931920"/>
            <a:ext cx="243230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sub-100ms serverless API. </a:t>
            </a: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PostGIS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geo-fenced community search. </a:t>
            </a: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persistent WebSocket chat connections.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46120" y="3584448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319272" y="3607308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246120" y="3584448"/>
            <a:ext cx="2651760" cy="50292"/>
          </a:xfrm>
          <a:prstGeom prst="rect">
            <a:avLst/>
          </a:prstGeom>
          <a:solidFill>
            <a:srgbClr val="3CB371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3355848" y="3675888"/>
            <a:ext cx="2432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  </a:t>
            </a:r>
            <a:r>
              <a:rPr lang="en-US" sz="9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Layer · 2 PaaS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55848" y="3931920"/>
            <a:ext cx="243230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auto-scales to zero — isolates Resource Directory from main API blast radius. </a:t>
            </a: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Speech STT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voice-to-text accessibility.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35040" y="3584448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6108192" y="3607308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6035040" y="3584448"/>
            <a:ext cx="2651760" cy="50292"/>
          </a:xfrm>
          <a:prstGeom prst="rect">
            <a:avLst/>
          </a:prstGeom>
          <a:solidFill>
            <a:srgbClr val="F08C00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144768" y="3675888"/>
            <a:ext cx="2432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 </a:t>
            </a:r>
            <a:r>
              <a:rPr lang="en-US" sz="9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+ Voice · 2 PaaS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44768" y="3931920"/>
            <a:ext cx="243230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(Push / SMS / Email) for real-time notification hub. </a:t>
            </a: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(Speech Gateway) for lowest-latency Tier-3 voice accessibility.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DDD6FE">
              <a:alpha val="3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BAE6FD">
              <a:alpha val="3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743200" y="-1371600"/>
            <a:ext cx="4572000" cy="4572000"/>
          </a:xfrm>
          <a:prstGeom prst="ellipse">
            <a:avLst/>
          </a:prstGeom>
          <a:solidFill>
            <a:srgbClr val="FDE68A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 &amp; Privacy Tiers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storage: local-first for privacy, P2P for community, cloud for indexing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93192" y="736092"/>
            <a:ext cx="2962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20040" y="713232"/>
            <a:ext cx="3108960" cy="50292"/>
          </a:xfrm>
          <a:prstGeom prst="rect">
            <a:avLst/>
          </a:prstGeom>
          <a:solidFill>
            <a:srgbClr val="3CB371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48056" y="841248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" y="1115568"/>
            <a:ext cx="2852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(Dexie.js)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settings, drafts, favorites, encryption keys. Data never leaves the device — zero-knowledge by design.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93192" y="2080260"/>
            <a:ext cx="2962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3108960" cy="50292"/>
          </a:xfrm>
          <a:prstGeom prst="rect">
            <a:avLst/>
          </a:prstGeom>
          <a:solidFill>
            <a:srgbClr val="3A7BD5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48056" y="2185416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Community-Shared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" y="2459736"/>
            <a:ext cx="2852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(Helia)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GossipSub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post summaries, version chains, reputation signals. Peers replicate only within their community.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93192" y="3424428"/>
            <a:ext cx="2962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3108960" cy="50292"/>
          </a:xfrm>
          <a:prstGeom prst="rect">
            <a:avLst/>
          </a:prstGeom>
          <a:solidFill>
            <a:srgbClr val="F08C00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48056" y="3529584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Index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" y="3803904"/>
            <a:ext cx="28529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PostgreSQL+PostGIS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resources, post indexes, match results, chat, audit logs. Encrypted at rest, geo-fenced queries.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69811" y="713232"/>
            <a:ext cx="4896217" cy="3977640"/>
          </a:xfrm>
          <a:prstGeom prst="roundRect">
            <a:avLst>
              <a:gd name="adj" fmla="val 2299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842963" y="736092"/>
            <a:ext cx="4749913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0" descr="/sessions/focused-clever-feynman/slides_diagrams/rendered/08_data_model_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387" y="749808"/>
            <a:ext cx="4823065" cy="390448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DDD6FE">
              <a:alpha val="3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FDE68A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743200" y="-914400"/>
            <a:ext cx="4114800" cy="4114800"/>
          </a:xfrm>
          <a:prstGeom prst="ellipse">
            <a:avLst/>
          </a:prstGeom>
          <a:solidFill>
            <a:srgbClr val="BAE6FD">
              <a:alpha val="3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Trust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trust ladder + STRIDE threat model + community governance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694944"/>
            <a:ext cx="8046720" cy="1291800"/>
          </a:xfrm>
          <a:prstGeom prst="roundRect">
            <a:avLst>
              <a:gd name="adj" fmla="val 7078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21792" y="717804"/>
            <a:ext cx="790041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/sessions/focused-clever-feynman/slides_diagrams/rendered/10_user_identit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731520"/>
            <a:ext cx="7973568" cy="12186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1513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 Model (STRIDE)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43944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530352" y="2466804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457200" y="2443944"/>
            <a:ext cx="2651760" cy="50292"/>
          </a:xfrm>
          <a:prstGeom prst="rect">
            <a:avLst/>
          </a:prstGeom>
          <a:solidFill>
            <a:srgbClr val="3A7BD5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66928" y="253538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Spoofing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" y="277312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MFA; signed resource directory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46120" y="2443944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319272" y="2466804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3246120" y="2443944"/>
            <a:ext cx="2651760" cy="50292"/>
          </a:xfrm>
          <a:prstGeom prst="rect">
            <a:avLst/>
          </a:prstGeom>
          <a:solidFill>
            <a:srgbClr val="3CB371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3355848" y="253538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Tampering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55848" y="277312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version hash; post version chain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2443944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6108192" y="2466804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6035040" y="2443944"/>
            <a:ext cx="2651760" cy="50292"/>
          </a:xfrm>
          <a:prstGeom prst="rect">
            <a:avLst/>
          </a:prstGeom>
          <a:solidFill>
            <a:srgbClr val="F08C00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144768" y="253538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Repudiation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44768" y="2773128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audit log (type + time + actor)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3330912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530352" y="3353772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457200" y="3330912"/>
            <a:ext cx="2651760" cy="50292"/>
          </a:xfrm>
          <a:prstGeom prst="rect">
            <a:avLst/>
          </a:prstGeom>
          <a:solidFill>
            <a:srgbClr val="7C5CFC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566928" y="342235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 Disclosure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3660096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ZIP-only; no GPS; anonymous nicknames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3330912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3319272" y="3353772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3246120" y="3330912"/>
            <a:ext cx="2651760" cy="50292"/>
          </a:xfrm>
          <a:prstGeom prst="rect">
            <a:avLst/>
          </a:prstGeom>
          <a:solidFill>
            <a:srgbClr val="E8636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3355848" y="342235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355848" y="3660096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limit; new-account restrictions; topic quota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035040" y="3330912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6108192" y="3353772"/>
            <a:ext cx="25054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6035040" y="3330912"/>
            <a:ext cx="2651760" cy="50292"/>
          </a:xfrm>
          <a:prstGeom prst="rect">
            <a:avLst/>
          </a:prstGeom>
          <a:solidFill>
            <a:srgbClr val="5856D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6144768" y="342235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Elevation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44768" y="3660096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invite code + MFA for Anchor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30932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530352" y="4332180"/>
            <a:ext cx="808329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0"/>
          <p:cNvSpPr/>
          <p:nvPr/>
        </p:nvSpPr>
        <p:spPr>
          <a:xfrm>
            <a:off x="457200" y="4309320"/>
            <a:ext cx="8229600" cy="50292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640080" y="43824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Governance: Reports → Moderation → Anchor Decision → P2P Broadcast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4114800" cy="4114800"/>
          </a:xfrm>
          <a:prstGeom prst="ellipse">
            <a:avLst/>
          </a:prstGeom>
          <a:solidFill>
            <a:srgbClr val="C7D2FE">
              <a:alpha val="3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FDE68A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200400" y="-1371600"/>
            <a:ext cx="4572000" cy="4572000"/>
          </a:xfrm>
          <a:prstGeom prst="ellipse">
            <a:avLst/>
          </a:prstGeom>
          <a:solidFill>
            <a:srgbClr val="BAE6FD">
              <a:alpha val="3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Course Alignment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milestones across 6+ weeks — MVP-first, iterate on feedback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38912" y="736092"/>
            <a:ext cx="1819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65760" y="713232"/>
            <a:ext cx="1965960" cy="50292"/>
          </a:xfrm>
          <a:prstGeom prst="rect">
            <a:avLst/>
          </a:prstGeom>
          <a:solidFill>
            <a:srgbClr val="3A7BD5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" y="80467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" y="804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804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1042416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Skeleton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128016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+ CI/CD + DB + JWT + PWA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41448" y="7132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14600" y="736092"/>
            <a:ext cx="1819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441448" y="713232"/>
            <a:ext cx="1965960" cy="50292"/>
          </a:xfrm>
          <a:prstGeom prst="rect">
            <a:avLst/>
          </a:prstGeom>
          <a:solidFill>
            <a:srgbClr val="3CB371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551176" y="80467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3CB3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551176" y="804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08376" y="804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51176" y="1042416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Directory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51176" y="128016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 import + ZIP search + PostGIS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17136" y="7132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590288" y="736092"/>
            <a:ext cx="1819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517136" y="713232"/>
            <a:ext cx="1965960" cy="50292"/>
          </a:xfrm>
          <a:prstGeom prst="rect">
            <a:avLst/>
          </a:prstGeom>
          <a:solidFill>
            <a:srgbClr val="F08C00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626864" y="80467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08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626864" y="804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84064" y="804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6864" y="1042416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Aid Posting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26864" y="128016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Request/Offer CRUD + voice input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92824" y="7132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665976" y="736092"/>
            <a:ext cx="1819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592824" y="713232"/>
            <a:ext cx="1965960" cy="50292"/>
          </a:xfrm>
          <a:prstGeom prst="rect">
            <a:avLst/>
          </a:prstGeom>
          <a:solidFill>
            <a:srgbClr val="7C5CFC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702552" y="80467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702552" y="8046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804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02552" y="1042416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Engine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02552" y="128016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action plans + official fallback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438912" y="1805940"/>
            <a:ext cx="1819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365760" y="1783080"/>
            <a:ext cx="1965960" cy="50292"/>
          </a:xfrm>
          <a:prstGeom prst="rect">
            <a:avLst/>
          </a:prstGeom>
          <a:solidFill>
            <a:srgbClr val="E8636F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75488" y="18745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8636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75488" y="187452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2688" y="1874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" y="2112264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&amp; Safety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" y="2350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RT + PII detect + mod queue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41448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2514600" y="1805940"/>
            <a:ext cx="1819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2441448" y="1783080"/>
            <a:ext cx="1965960" cy="50292"/>
          </a:xfrm>
          <a:prstGeom prst="rect">
            <a:avLst/>
          </a:prstGeom>
          <a:solidFill>
            <a:srgbClr val="5856D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2551176" y="18745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856D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2551176" y="187452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008376" y="1874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51176" y="2112264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Admin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51176" y="2350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+ announcements + rules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17136" y="17830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4590288" y="1805940"/>
            <a:ext cx="18196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4517136" y="1783080"/>
            <a:ext cx="1965960" cy="50292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4626864" y="18745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4626864" y="187452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84064" y="1874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6+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26864" y="2112264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P2P Sync (Bonus)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26864" y="2350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IPFS + Anchor pin + conflict resolution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2962656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438912" y="2985516"/>
            <a:ext cx="405993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548640" y="30723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Requirements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864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(≥2)</a:t>
            </a: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AWS + GCP + Azure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48640" y="3694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(≥3)</a:t>
            </a: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Lambda, Cloud Run, Azure Functions, Fargate…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864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/ Decentralized</a:t>
            </a: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libp2p + Helia + GossipSub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48640" y="4352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4-level auth, STRIDE, Anchor moderation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48640" y="4681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Report</a:t>
            </a:r>
            <a:r>
              <a:rPr lang="en-US" sz="95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 milestones → live demo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54880" y="2962656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76200" dist="25400" dir="8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4828032" y="2985516"/>
            <a:ext cx="3877056" cy="32004"/>
          </a:xfrm>
          <a:prstGeom prst="roundRect">
            <a:avLst>
              <a:gd name="adj" fmla="val 57143"/>
            </a:avLst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4754880" y="2962656"/>
            <a:ext cx="4023360" cy="50292"/>
          </a:xfrm>
          <a:prstGeom prst="rect">
            <a:avLst/>
          </a:prstGeom>
          <a:solidFill>
            <a:srgbClr val="7C5CFC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493776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937760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milestones across 6+ weeks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937760" y="39410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docs · 14 diagrams · Full API + DB spec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937760" y="4352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</a:t>
            </a:r>
            <a:r>
              <a:rPr lang="en-US" sz="9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MVP-first, iterate on feedback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229600" y="4919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1847</Words>
  <Application>Microsoft Macintosh PowerPoint</Application>
  <PresentationFormat>全屏显示(16:9)</PresentationFormat>
  <Paragraphs>371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WeaveNYC Midterm Proposal v7</dc:title>
  <dc:subject>PptxGenJS Presentation</dc:subject>
  <dc:creator>Kairan Shen</dc:creator>
  <cp:lastModifiedBy>楷然 沈</cp:lastModifiedBy>
  <cp:revision>3</cp:revision>
  <dcterms:created xsi:type="dcterms:W3CDTF">2026-03-05T23:04:30Z</dcterms:created>
  <dcterms:modified xsi:type="dcterms:W3CDTF">2026-03-06T01:05:55Z</dcterms:modified>
</cp:coreProperties>
</file>